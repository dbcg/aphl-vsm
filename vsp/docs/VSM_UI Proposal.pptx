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85" r:id="rId4"/>
    <p:sldId id="286" r:id="rId5"/>
    <p:sldId id="288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6" d="100"/>
          <a:sy n="156" d="100"/>
        </p:scale>
        <p:origin x="1940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Value Set Manager UI Wireframes</a:t>
            </a:r>
            <a:r>
              <a:rPr lang="en-US" dirty="0"/>
              <a:t> – Proposed Changes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Authoring &amp; Implementer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EBAB0-A269-2C0C-A240-37A1FD9EB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2DDB6E1-B1C1-DF96-BEB2-90830AAD67D4}"/>
              </a:ext>
            </a:extLst>
          </p:cNvPr>
          <p:cNvSpPr txBox="1">
            <a:spLocks/>
          </p:cNvSpPr>
          <p:nvPr/>
        </p:nvSpPr>
        <p:spPr>
          <a:xfrm>
            <a:off x="457200" y="19001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Authoring Workflow (Creators)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85D0018-BD62-5A43-ED3C-25817D6CE508}"/>
              </a:ext>
            </a:extLst>
          </p:cNvPr>
          <p:cNvSpPr txBox="1">
            <a:spLocks/>
          </p:cNvSpPr>
          <p:nvPr/>
        </p:nvSpPr>
        <p:spPr>
          <a:xfrm>
            <a:off x="296364" y="9301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9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Value Set Packages</a:t>
            </a:r>
            <a:r>
              <a:rPr lang="en-US" sz="1400" dirty="0"/>
              <a:t> – Same as the Programs page, but it is showing only Value Set Packages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Select Implementation Guide is a filter displaying known implementation guides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Display Draft + Active versions on this authoring page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Create creates a Value Set Package for the selected implementation guide (choose one or disable if none selected), and then takes the user to the Value Set Package Edit</a:t>
            </a:r>
            <a:endParaRPr lang="en-US" sz="1100" dirty="0">
              <a:latin typeface="+mn-lt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912C4BA-1549-F717-F299-EBD1951D3C35}"/>
              </a:ext>
            </a:extLst>
          </p:cNvPr>
          <p:cNvCxnSpPr>
            <a:cxnSpLocks/>
          </p:cNvCxnSpPr>
          <p:nvPr/>
        </p:nvCxnSpPr>
        <p:spPr>
          <a:xfrm flipH="1">
            <a:off x="2133600" y="2871673"/>
            <a:ext cx="540773" cy="1316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F484B59-F0DC-F97C-9DD5-5C4DC7B0A302}"/>
              </a:ext>
            </a:extLst>
          </p:cNvPr>
          <p:cNvSpPr/>
          <p:nvPr/>
        </p:nvSpPr>
        <p:spPr>
          <a:xfrm>
            <a:off x="4149214" y="2255549"/>
            <a:ext cx="4763729" cy="411381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Dropdown: </a:t>
            </a:r>
            <a:r>
              <a:rPr lang="en-US" dirty="0" err="1"/>
              <a:t>Implmenetation</a:t>
            </a:r>
            <a:r>
              <a:rPr lang="en-US" dirty="0"/>
              <a:t> Guide (IG) Filter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8CF72B-3523-BDE6-768A-8D02CC987169}"/>
              </a:ext>
            </a:extLst>
          </p:cNvPr>
          <p:cNvSpPr/>
          <p:nvPr/>
        </p:nvSpPr>
        <p:spPr>
          <a:xfrm>
            <a:off x="358877" y="2282171"/>
            <a:ext cx="3249561" cy="4113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Tab: Value Set Packages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47CB3515-C8B2-5DE7-A224-9CD06790C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77" y="2940242"/>
            <a:ext cx="8167087" cy="36431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C676651-0C16-FCD6-D9E6-694DE60D3B2A}"/>
              </a:ext>
            </a:extLst>
          </p:cNvPr>
          <p:cNvCxnSpPr>
            <a:cxnSpLocks/>
          </p:cNvCxnSpPr>
          <p:nvPr/>
        </p:nvCxnSpPr>
        <p:spPr>
          <a:xfrm flipH="1">
            <a:off x="4149214" y="2711693"/>
            <a:ext cx="422786" cy="1117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0CEDC21-DD3A-53CC-6555-35B838B134BE}"/>
              </a:ext>
            </a:extLst>
          </p:cNvPr>
          <p:cNvSpPr/>
          <p:nvPr/>
        </p:nvSpPr>
        <p:spPr>
          <a:xfrm>
            <a:off x="2467897" y="3849328"/>
            <a:ext cx="3077497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Select Implementation Guide (IG)</a:t>
            </a:r>
          </a:p>
        </p:txBody>
      </p:sp>
      <p:sp>
        <p:nvSpPr>
          <p:cNvPr id="30" name="Arrow: Pentagon 29">
            <a:extLst>
              <a:ext uri="{FF2B5EF4-FFF2-40B4-BE49-F238E27FC236}">
                <a16:creationId xmlns:a16="http://schemas.microsoft.com/office/drawing/2014/main" id="{21255F6C-1540-2872-613C-FADCD44A3E6C}"/>
              </a:ext>
            </a:extLst>
          </p:cNvPr>
          <p:cNvSpPr/>
          <p:nvPr/>
        </p:nvSpPr>
        <p:spPr>
          <a:xfrm rot="5400000">
            <a:off x="5310279" y="3918898"/>
            <a:ext cx="155602" cy="180406"/>
          </a:xfrm>
          <a:prstGeom prst="homePlat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2D37343-E4A8-DE4B-3A28-1946FD994307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1983658" y="2693551"/>
            <a:ext cx="149941" cy="8365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6D42D34-64FA-B0FE-4702-43CBCF88FF35}"/>
              </a:ext>
            </a:extLst>
          </p:cNvPr>
          <p:cNvSpPr/>
          <p:nvPr/>
        </p:nvSpPr>
        <p:spPr>
          <a:xfrm>
            <a:off x="5800725" y="3882118"/>
            <a:ext cx="1114425" cy="28675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</a:t>
            </a:r>
          </a:p>
        </p:txBody>
      </p:sp>
    </p:spTree>
    <p:extLst>
      <p:ext uri="{BB962C8B-B14F-4D97-AF65-F5344CB8AC3E}">
        <p14:creationId xmlns:p14="http://schemas.microsoft.com/office/powerpoint/2010/main" val="1012902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64A08-C7BF-D826-A7B1-5F9796EE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8BCD4A2F-0407-034C-F74D-7C45115E6A1E}"/>
              </a:ext>
            </a:extLst>
          </p:cNvPr>
          <p:cNvSpPr txBox="1">
            <a:spLocks/>
          </p:cNvSpPr>
          <p:nvPr/>
        </p:nvSpPr>
        <p:spPr>
          <a:xfrm>
            <a:off x="398207" y="7044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900" b="1" dirty="0"/>
              <a:t>Value Set Package Edit </a:t>
            </a:r>
            <a:r>
              <a:rPr lang="en-US" sz="2900" dirty="0"/>
              <a:t>– The IG selected from the dropdown from previous tab should auto-populate the IG field, and once the user provides the Program Metadata (defaulted to data from the implementation guide (e.g. Value Set Package for &lt;implementation guide description&gt;), a value set package will be created for that IG in draft status.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900" dirty="0"/>
              <a:t>Manifest will be defaulted to information available from the implementation guide expansion parameters</a:t>
            </a:r>
            <a:endParaRPr lang="en-US" sz="25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4A880E7-BB5F-E557-9430-31F4F839A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08" y="3466060"/>
            <a:ext cx="6791734" cy="31903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1B2F7A1-813C-24F6-A695-9F3C14831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216" y="1240482"/>
            <a:ext cx="6814925" cy="2225578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5FF642DA-4A29-E90C-67F9-8B98B7199B2A}"/>
              </a:ext>
            </a:extLst>
          </p:cNvPr>
          <p:cNvSpPr/>
          <p:nvPr/>
        </p:nvSpPr>
        <p:spPr>
          <a:xfrm>
            <a:off x="1986116" y="1240482"/>
            <a:ext cx="1750142" cy="4899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3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1363-6230-47AC-B4A9-9CC8CB12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0104CDC-2304-BAE8-336E-35DEA29E4027}"/>
              </a:ext>
            </a:extLst>
          </p:cNvPr>
          <p:cNvSpPr txBox="1">
            <a:spLocks/>
          </p:cNvSpPr>
          <p:nvPr/>
        </p:nvSpPr>
        <p:spPr>
          <a:xfrm>
            <a:off x="245807" y="11312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3700" dirty="0">
                <a:latin typeface="+mn-lt"/>
              </a:rPr>
              <a:t>Authors will be able to create, edit, release, withdraw and retire value set packages.</a:t>
            </a:r>
            <a:endParaRPr lang="en-US" sz="3100" dirty="0"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851D69-AA2C-280C-07EB-7B6B82923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2740"/>
            <a:ext cx="9144000" cy="40794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4546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E22B6-EEA6-5BC0-0B99-8D17DF22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AED19AD-F3CD-9710-AA1D-EB221EBB844A}"/>
              </a:ext>
            </a:extLst>
          </p:cNvPr>
          <p:cNvSpPr txBox="1">
            <a:spLocks/>
          </p:cNvSpPr>
          <p:nvPr/>
        </p:nvSpPr>
        <p:spPr>
          <a:xfrm>
            <a:off x="524784" y="248038"/>
            <a:ext cx="529779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914400">
              <a:lnSpc>
                <a:spcPct val="90000"/>
              </a:lnSpc>
              <a:spcAft>
                <a:spcPts val="600"/>
              </a:spcAft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Implementor Workflow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C9B0D55-17F1-2EF0-FF41-822840A6EDE0}"/>
              </a:ext>
            </a:extLst>
          </p:cNvPr>
          <p:cNvSpPr txBox="1">
            <a:spLocks/>
          </p:cNvSpPr>
          <p:nvPr/>
        </p:nvSpPr>
        <p:spPr>
          <a:xfrm>
            <a:off x="6429374" y="390832"/>
            <a:ext cx="2425189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Home -&gt; Program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5CDA4AC-B1E9-3C1A-6B61-3E7B175C5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91" y="2986550"/>
            <a:ext cx="8967018" cy="37213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485F62B-5933-78F7-A927-49CE2813A731}"/>
              </a:ext>
            </a:extLst>
          </p:cNvPr>
          <p:cNvSpPr/>
          <p:nvPr/>
        </p:nvSpPr>
        <p:spPr>
          <a:xfrm>
            <a:off x="2400786" y="3975628"/>
            <a:ext cx="3077497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Select Implementation Guide (IG)</a:t>
            </a: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3626ED08-1211-259F-6174-C480A10659E4}"/>
              </a:ext>
            </a:extLst>
          </p:cNvPr>
          <p:cNvSpPr/>
          <p:nvPr/>
        </p:nvSpPr>
        <p:spPr>
          <a:xfrm rot="5400000">
            <a:off x="5243168" y="4045198"/>
            <a:ext cx="155602" cy="180406"/>
          </a:xfrm>
          <a:prstGeom prst="homePlat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A4BC77-177D-0695-CE32-EB24135CF3F7}"/>
              </a:ext>
            </a:extLst>
          </p:cNvPr>
          <p:cNvSpPr txBox="1"/>
          <p:nvPr/>
        </p:nvSpPr>
        <p:spPr>
          <a:xfrm>
            <a:off x="255639" y="1857324"/>
            <a:ext cx="85989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Search the list of active value set packages by IG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Click on Any Value Set Package to review Package Details, </a:t>
            </a:r>
            <a:r>
              <a:rPr lang="en-US" dirty="0" err="1"/>
              <a:t>ValueSets</a:t>
            </a:r>
            <a:r>
              <a:rPr lang="en-US" dirty="0"/>
              <a:t>, Metadata &amp; Manifest.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inside the Value Set Package, Export – Download the value sets expansions.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Implementers can only view details, compare versions, view value sets and export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371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10636</TotalTime>
  <Words>267</Words>
  <Application>Microsoft Office PowerPoint</Application>
  <PresentationFormat>On-screen Show (4:3)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Value Set Manager UI Wireframes – Proposed Changes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Bryn</cp:lastModifiedBy>
  <cp:revision>23</cp:revision>
  <dcterms:created xsi:type="dcterms:W3CDTF">2013-01-27T09:14:16Z</dcterms:created>
  <dcterms:modified xsi:type="dcterms:W3CDTF">2025-11-24T15:57:02Z</dcterms:modified>
  <cp:category/>
</cp:coreProperties>
</file>