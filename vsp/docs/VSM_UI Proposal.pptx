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1" r:id="rId3"/>
    <p:sldId id="285" r:id="rId4"/>
    <p:sldId id="289" r:id="rId5"/>
    <p:sldId id="286" r:id="rId6"/>
    <p:sldId id="288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Value Set Manager UI Wireframes</a:t>
            </a:r>
            <a:r>
              <a:rPr lang="en-US" dirty="0"/>
              <a:t> – Proposed Changes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Authoring &amp; Implementer Workflows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EBAB0-A269-2C0C-A240-37A1FD9EB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506ABE-A9E6-F100-20E5-35A71DDFC2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10265"/>
            <a:ext cx="9144000" cy="3394436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C2DDB6E1-B1C1-DF96-BEB2-90830AAD67D4}"/>
              </a:ext>
            </a:extLst>
          </p:cNvPr>
          <p:cNvSpPr txBox="1">
            <a:spLocks/>
          </p:cNvSpPr>
          <p:nvPr/>
        </p:nvSpPr>
        <p:spPr>
          <a:xfrm>
            <a:off x="457200" y="19001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/>
              <a:t>Authoring Workflow (Creators)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785D0018-BD62-5A43-ED3C-25817D6CE508}"/>
              </a:ext>
            </a:extLst>
          </p:cNvPr>
          <p:cNvSpPr txBox="1">
            <a:spLocks/>
          </p:cNvSpPr>
          <p:nvPr/>
        </p:nvSpPr>
        <p:spPr>
          <a:xfrm>
            <a:off x="296364" y="9301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900" dirty="0"/>
          </a:p>
          <a:p>
            <a:pPr marL="342900" indent="-3429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400" b="1" dirty="0"/>
              <a:t>Value Set Packages</a:t>
            </a:r>
            <a:r>
              <a:rPr lang="en-US" sz="1400" dirty="0"/>
              <a:t> – Same as the Programs page, but it is showing only Value Set Packages for a specific implementation guide</a:t>
            </a:r>
          </a:p>
          <a:p>
            <a:pPr marL="342900" indent="-3429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The IG is a URL parameter and otherwise </a:t>
            </a:r>
            <a:r>
              <a:rPr lang="en-US" sz="1400" dirty="0" err="1"/>
              <a:t>readonly</a:t>
            </a:r>
            <a:r>
              <a:rPr lang="en-US" sz="1400" dirty="0"/>
              <a:t> (this page is only ever arrived at from an IG Downloads page)</a:t>
            </a:r>
          </a:p>
          <a:p>
            <a:pPr marL="800100" lvl="1" indent="-3429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sz="100" dirty="0"/>
          </a:p>
          <a:p>
            <a:pPr marL="342900" indent="-3429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+mn-lt"/>
              </a:rPr>
              <a:t>Display Draft + Active versions of Value Set Package Definitions on this browse</a:t>
            </a:r>
          </a:p>
          <a:p>
            <a:pPr marL="342900" indent="-3429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+mn-lt"/>
              </a:rPr>
              <a:t>Create a Value Set Package for the selected implementation guide (choose one or disable if none selected), and then takes the user to the Value Set Package Edit</a:t>
            </a:r>
            <a:endParaRPr lang="en-US" sz="1100" dirty="0">
              <a:latin typeface="+mn-lt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912C4BA-1549-F717-F299-EBD1951D3C35}"/>
              </a:ext>
            </a:extLst>
          </p:cNvPr>
          <p:cNvCxnSpPr>
            <a:cxnSpLocks/>
            <a:stCxn id="26" idx="2"/>
          </p:cNvCxnSpPr>
          <p:nvPr/>
        </p:nvCxnSpPr>
        <p:spPr>
          <a:xfrm>
            <a:off x="1337189" y="2635323"/>
            <a:ext cx="766917" cy="11500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4F484B59-F0DC-F97C-9DD5-5C4DC7B0A302}"/>
              </a:ext>
            </a:extLst>
          </p:cNvPr>
          <p:cNvSpPr/>
          <p:nvPr/>
        </p:nvSpPr>
        <p:spPr>
          <a:xfrm>
            <a:off x="2893759" y="2226330"/>
            <a:ext cx="3824743" cy="411381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Implementation Guide (IG)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E8CF72B-3523-BDE6-768A-8D02CC987169}"/>
              </a:ext>
            </a:extLst>
          </p:cNvPr>
          <p:cNvSpPr/>
          <p:nvPr/>
        </p:nvSpPr>
        <p:spPr>
          <a:xfrm>
            <a:off x="29499" y="2223943"/>
            <a:ext cx="2615380" cy="4113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Tab: Value Set Packages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C676651-0C16-FCD6-D9E6-694DE60D3B2A}"/>
              </a:ext>
            </a:extLst>
          </p:cNvPr>
          <p:cNvCxnSpPr>
            <a:cxnSpLocks/>
          </p:cNvCxnSpPr>
          <p:nvPr/>
        </p:nvCxnSpPr>
        <p:spPr>
          <a:xfrm flipH="1">
            <a:off x="4515465" y="2485550"/>
            <a:ext cx="56535" cy="12998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76D42D34-64FA-B0FE-4702-43CBCF88FF35}"/>
              </a:ext>
            </a:extLst>
          </p:cNvPr>
          <p:cNvSpPr/>
          <p:nvPr/>
        </p:nvSpPr>
        <p:spPr>
          <a:xfrm>
            <a:off x="5770918" y="3955975"/>
            <a:ext cx="1114425" cy="28675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Create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1B5273F-9A91-7E73-0321-C78006B9AD03}"/>
              </a:ext>
            </a:extLst>
          </p:cNvPr>
          <p:cNvSpPr/>
          <p:nvPr/>
        </p:nvSpPr>
        <p:spPr>
          <a:xfrm>
            <a:off x="3878827" y="4180005"/>
            <a:ext cx="1273276" cy="31954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 err="1"/>
              <a:t>uscore</a:t>
            </a:r>
            <a:r>
              <a:rPr lang="en-US" sz="1400" b="1" dirty="0"/>
              <a:t> 6.1.0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FBEE61F-5DC4-9B6B-6C14-4C2181AA6FED}"/>
              </a:ext>
            </a:extLst>
          </p:cNvPr>
          <p:cNvSpPr/>
          <p:nvPr/>
        </p:nvSpPr>
        <p:spPr>
          <a:xfrm>
            <a:off x="7160344" y="2144243"/>
            <a:ext cx="1635845" cy="72855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Create new VS Package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4ED2CEB-9FC8-B446-FE3B-7542B28CF52D}"/>
              </a:ext>
            </a:extLst>
          </p:cNvPr>
          <p:cNvCxnSpPr>
            <a:cxnSpLocks/>
            <a:stCxn id="11" idx="1"/>
          </p:cNvCxnSpPr>
          <p:nvPr/>
        </p:nvCxnSpPr>
        <p:spPr>
          <a:xfrm flipH="1">
            <a:off x="6442586" y="2508519"/>
            <a:ext cx="717758" cy="13519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29027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64A08-C7BF-D826-A7B1-5F9796EE8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8BCD4A2F-0407-034C-F74D-7C45115E6A1E}"/>
              </a:ext>
            </a:extLst>
          </p:cNvPr>
          <p:cNvSpPr txBox="1">
            <a:spLocks/>
          </p:cNvSpPr>
          <p:nvPr/>
        </p:nvSpPr>
        <p:spPr>
          <a:xfrm>
            <a:off x="398207" y="7044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7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900" b="1" dirty="0"/>
              <a:t>Value Set Package Edit </a:t>
            </a:r>
            <a:r>
              <a:rPr lang="en-US" sz="2900" dirty="0"/>
              <a:t>– The IG parameter from the previous tab auto-populates the IG field</a:t>
            </a:r>
          </a:p>
          <a:p>
            <a:pPr marL="342900" indent="-3429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900" dirty="0"/>
              <a:t>Most metadata is defaulted, only “version” can be changed</a:t>
            </a:r>
          </a:p>
          <a:p>
            <a:pPr marL="342900" indent="-3429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900" dirty="0"/>
              <a:t>Version is defaulted to “YYYY-MM” of current date</a:t>
            </a:r>
          </a:p>
          <a:p>
            <a:pPr marL="342900" indent="-3429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900" dirty="0"/>
              <a:t>Manifest will be defaulted based on the published implementation guide</a:t>
            </a:r>
            <a:endParaRPr lang="en-US" sz="2500" dirty="0"/>
          </a:p>
          <a:p>
            <a:pPr marL="342900" indent="-3429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sz="2400" dirty="0">
              <a:latin typeface="+mn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51C9208-19ED-DC1B-E093-4CB87B8378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1223"/>
            <a:ext cx="9144000" cy="108788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9ED0AFC-0E1D-0AF6-12EE-B4D78320E4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39110"/>
            <a:ext cx="9144000" cy="354603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69D8D9F-E1FF-E3FA-86E4-076664914D25}"/>
              </a:ext>
            </a:extLst>
          </p:cNvPr>
          <p:cNvSpPr txBox="1"/>
          <p:nvPr/>
        </p:nvSpPr>
        <p:spPr>
          <a:xfrm>
            <a:off x="1020009" y="5233851"/>
            <a:ext cx="48238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Manifest from the implementation guide expansion parameters</a:t>
            </a:r>
            <a:endParaRPr lang="en-US" sz="1200" dirty="0"/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88334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66F1F-358A-0B0E-2B0E-A56B6EA98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Manifest Edit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34D3E5-70A8-7B57-3C2A-76DE8AADA9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51799"/>
            <a:ext cx="9144000" cy="377381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00A55BA-3EE1-E177-FADB-AA596B62CF52}"/>
              </a:ext>
            </a:extLst>
          </p:cNvPr>
          <p:cNvSpPr txBox="1"/>
          <p:nvPr/>
        </p:nvSpPr>
        <p:spPr>
          <a:xfrm>
            <a:off x="379993" y="5167178"/>
            <a:ext cx="83840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 Creation of a new Value Set Package, the manifest will be populated with all </a:t>
            </a:r>
            <a:r>
              <a:rPr lang="en-US" dirty="0" err="1"/>
              <a:t>CodeSystem</a:t>
            </a:r>
            <a:r>
              <a:rPr lang="en-US" dirty="0"/>
              <a:t> and </a:t>
            </a:r>
            <a:r>
              <a:rPr lang="en-US" dirty="0" err="1"/>
              <a:t>ValueSet</a:t>
            </a:r>
            <a:r>
              <a:rPr lang="en-US" dirty="0"/>
              <a:t> dependencies using the package dependency versions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Add the ability to edit value set versions in the manifest by creating a “</a:t>
            </a:r>
            <a:r>
              <a:rPr lang="en-US" dirty="0" err="1"/>
              <a:t>ValueSet</a:t>
            </a:r>
            <a:r>
              <a:rPr lang="en-US" dirty="0"/>
              <a:t>” tab, and putting the current </a:t>
            </a:r>
            <a:r>
              <a:rPr lang="en-US" dirty="0" err="1"/>
              <a:t>CodeSystem</a:t>
            </a:r>
            <a:r>
              <a:rPr lang="en-US" dirty="0"/>
              <a:t> capabilities on a “</a:t>
            </a:r>
            <a:r>
              <a:rPr lang="en-US" dirty="0" err="1"/>
              <a:t>CodeSystem</a:t>
            </a:r>
            <a:r>
              <a:rPr lang="en-US" dirty="0"/>
              <a:t>” tab</a:t>
            </a:r>
          </a:p>
        </p:txBody>
      </p:sp>
    </p:spTree>
    <p:extLst>
      <p:ext uri="{BB962C8B-B14F-4D97-AF65-F5344CB8AC3E}">
        <p14:creationId xmlns:p14="http://schemas.microsoft.com/office/powerpoint/2010/main" val="19014524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91363-6230-47AC-B4A9-9CC8CB12E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50104CDC-2304-BAE8-336E-35DEA29E4027}"/>
              </a:ext>
            </a:extLst>
          </p:cNvPr>
          <p:cNvSpPr txBox="1">
            <a:spLocks/>
          </p:cNvSpPr>
          <p:nvPr/>
        </p:nvSpPr>
        <p:spPr>
          <a:xfrm>
            <a:off x="245807" y="11312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3700" dirty="0">
                <a:latin typeface="+mn-lt"/>
              </a:rPr>
              <a:t>Authors will be able to create, edit, release, withdraw and retire value set packages.</a:t>
            </a:r>
            <a:endParaRPr lang="en-US" sz="3100" dirty="0">
              <a:latin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851D69-AA2C-280C-07EB-7B6B82923A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52740"/>
            <a:ext cx="9144000" cy="407946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045464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3E22B6-EEA6-5BC0-0B99-8D17DF22F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AED19AD-F3CD-9710-AA1D-EB221EBB844A}"/>
              </a:ext>
            </a:extLst>
          </p:cNvPr>
          <p:cNvSpPr txBox="1">
            <a:spLocks/>
          </p:cNvSpPr>
          <p:nvPr/>
        </p:nvSpPr>
        <p:spPr>
          <a:xfrm>
            <a:off x="524784" y="248038"/>
            <a:ext cx="5297791" cy="115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914400">
              <a:lnSpc>
                <a:spcPct val="90000"/>
              </a:lnSpc>
              <a:spcAft>
                <a:spcPts val="600"/>
              </a:spcAft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Consumer </a:t>
            </a:r>
            <a:r>
              <a:rPr lang="en-US" sz="3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Workflow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C9B0D55-17F1-2EF0-FF41-822840A6EDE0}"/>
              </a:ext>
            </a:extLst>
          </p:cNvPr>
          <p:cNvSpPr txBox="1">
            <a:spLocks/>
          </p:cNvSpPr>
          <p:nvPr/>
        </p:nvSpPr>
        <p:spPr>
          <a:xfrm>
            <a:off x="6228428" y="404576"/>
            <a:ext cx="2626135" cy="8736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914400">
              <a:lnSpc>
                <a:spcPct val="90000"/>
              </a:lnSpc>
              <a:spcBef>
                <a:spcPts val="1000"/>
              </a:spcBef>
            </a:pPr>
            <a:r>
              <a:rPr lang="en-US" sz="17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ValueSet</a:t>
            </a:r>
            <a:r>
              <a:rPr lang="en-US" sz="17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Packages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A4BC77-177D-0695-CE32-EB24135CF3F7}"/>
              </a:ext>
            </a:extLst>
          </p:cNvPr>
          <p:cNvSpPr txBox="1"/>
          <p:nvPr/>
        </p:nvSpPr>
        <p:spPr>
          <a:xfrm>
            <a:off x="255639" y="1562940"/>
            <a:ext cx="859892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Same as for authors, IG is a parameter to the page, and the page is only ever arrived at from an IG downloads page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Click on Any Value Set Package to review Package Details, </a:t>
            </a:r>
            <a:r>
              <a:rPr lang="en-US" dirty="0" err="1"/>
              <a:t>ValueSets</a:t>
            </a:r>
            <a:r>
              <a:rPr lang="en-US" dirty="0"/>
              <a:t>, Metadata &amp; Manifest.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From inside the Value Set Package, Export – Download the value sets expansions.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Implementers can only view details, compare versions, view value sets and export</a:t>
            </a:r>
          </a:p>
          <a:p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247151F-0B8D-DDAC-AB9C-4BAB6D04F07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2738"/>
          <a:stretch>
            <a:fillRect/>
          </a:stretch>
        </p:blipFill>
        <p:spPr>
          <a:xfrm>
            <a:off x="29499" y="4220648"/>
            <a:ext cx="9144000" cy="2622604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1CFB13C-E68B-77BE-2DCD-F53605639284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1366688" y="3807708"/>
            <a:ext cx="196646" cy="23952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6191DC52-1914-FFB3-282C-0B0BD7D2B021}"/>
              </a:ext>
            </a:extLst>
          </p:cNvPr>
          <p:cNvSpPr/>
          <p:nvPr/>
        </p:nvSpPr>
        <p:spPr>
          <a:xfrm>
            <a:off x="58998" y="3396328"/>
            <a:ext cx="2615380" cy="4113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Review Package Details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BEFBB79-2946-A03A-E2C6-42BB915ADDED}"/>
              </a:ext>
            </a:extLst>
          </p:cNvPr>
          <p:cNvSpPr/>
          <p:nvPr/>
        </p:nvSpPr>
        <p:spPr>
          <a:xfrm>
            <a:off x="3967318" y="5231397"/>
            <a:ext cx="1273276" cy="31954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 err="1"/>
              <a:t>uscore</a:t>
            </a:r>
            <a:r>
              <a:rPr lang="en-US" sz="1400" b="1" dirty="0"/>
              <a:t> 6.1.0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23860A7-A245-9E71-96DA-E24E8AE05369}"/>
              </a:ext>
            </a:extLst>
          </p:cNvPr>
          <p:cNvSpPr/>
          <p:nvPr/>
        </p:nvSpPr>
        <p:spPr>
          <a:xfrm>
            <a:off x="2936153" y="3233088"/>
            <a:ext cx="1635845" cy="72855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Export, View </a:t>
            </a:r>
            <a:r>
              <a:rPr lang="en-US" dirty="0" err="1"/>
              <a:t>ValueSets</a:t>
            </a:r>
            <a:endParaRPr lang="en-US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25EEA5E-63D1-5E56-D222-8EE1730ED19E}"/>
              </a:ext>
            </a:extLst>
          </p:cNvPr>
          <p:cNvCxnSpPr>
            <a:cxnSpLocks/>
          </p:cNvCxnSpPr>
          <p:nvPr/>
        </p:nvCxnSpPr>
        <p:spPr>
          <a:xfrm flipH="1">
            <a:off x="1679168" y="4017107"/>
            <a:ext cx="1907152" cy="21722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83714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13490</TotalTime>
  <Words>339</Words>
  <Application>Microsoft Office PowerPoint</Application>
  <PresentationFormat>On-screen Show (4:3)</PresentationFormat>
  <Paragraphs>34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Value Set Manager UI Wireframes – Proposed Changes</vt:lpstr>
      <vt:lpstr>PowerPoint Presentation</vt:lpstr>
      <vt:lpstr>PowerPoint Presentation</vt:lpstr>
      <vt:lpstr>Manifest Edit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Bryn Rhodes</cp:lastModifiedBy>
  <cp:revision>30</cp:revision>
  <dcterms:created xsi:type="dcterms:W3CDTF">2013-01-27T09:14:16Z</dcterms:created>
  <dcterms:modified xsi:type="dcterms:W3CDTF">2026-01-07T19:33:28Z</dcterms:modified>
  <cp:category/>
</cp:coreProperties>
</file>